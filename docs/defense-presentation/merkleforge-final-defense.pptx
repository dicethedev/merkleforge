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3eb2fedf794e3b" /><Relationship Type="http://schemas.openxmlformats.org/officeDocument/2006/relationships/extended-properties" Target="/docProps/app.xml" Id="R60a56ce34bbe4762" /><Relationship Type="http://schemas.openxmlformats.org/officeDocument/2006/relationships/officeDocument" Target="/ppt/presentation.xml" Id="Rbcedd8a7f379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c85d7730d4884"/>
  </p:sldMasterIdLst>
  <p:notesMasterIdLst>
    <p:notesMasterId xmlns:r="http://schemas.openxmlformats.org/officeDocument/2006/relationships" r:id="Rafa6e33c81c04048"/>
  </p:notesMasterIdLst>
  <p:sldIdLst>
    <p:sldId xmlns:r="http://schemas.openxmlformats.org/officeDocument/2006/relationships" id="256" r:id="R0b09b03f6ea54873"/>
    <p:sldId xmlns:r="http://schemas.openxmlformats.org/officeDocument/2006/relationships" id="257" r:id="Re6fb0dad88ed4b5e"/>
    <p:sldId xmlns:r="http://schemas.openxmlformats.org/officeDocument/2006/relationships" id="258" r:id="Rece8dc254bff4190"/>
    <p:sldId xmlns:r="http://schemas.openxmlformats.org/officeDocument/2006/relationships" id="259" r:id="Rcab3dd3853f348f7"/>
    <p:sldId xmlns:r="http://schemas.openxmlformats.org/officeDocument/2006/relationships" id="260" r:id="Rf506332753804be8"/>
    <p:sldId xmlns:r="http://schemas.openxmlformats.org/officeDocument/2006/relationships" id="261" r:id="Rd75a1f7ac2e74395"/>
    <p:sldId xmlns:r="http://schemas.openxmlformats.org/officeDocument/2006/relationships" id="262" r:id="Rbbedb68319474a38"/>
    <p:sldId xmlns:r="http://schemas.openxmlformats.org/officeDocument/2006/relationships" id="263" r:id="R0acce58d0016489e"/>
    <p:sldId xmlns:r="http://schemas.openxmlformats.org/officeDocument/2006/relationships" id="264" r:id="Rd098da118f4745ca"/>
    <p:sldId xmlns:r="http://schemas.openxmlformats.org/officeDocument/2006/relationships" id="265" r:id="Rec82be76fde34593"/>
    <p:sldId xmlns:r="http://schemas.openxmlformats.org/officeDocument/2006/relationships" id="266" r:id="Rc1446d3f2db641ee"/>
    <p:sldId xmlns:r="http://schemas.openxmlformats.org/officeDocument/2006/relationships" id="267" r:id="Rc2e45c543e4d4dab"/>
    <p:sldId xmlns:r="http://schemas.openxmlformats.org/officeDocument/2006/relationships" id="268" r:id="R89bcaaff5ea74371"/>
    <p:sldId xmlns:r="http://schemas.openxmlformats.org/officeDocument/2006/relationships" id="269" r:id="R5c6b135cdffc4c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335b620214438" /><Relationship Type="http://schemas.openxmlformats.org/officeDocument/2006/relationships/slideMaster" Target="/ppt/slideMasters/slideMaster1.xml" Id="Rcd7c85d7730d4884" /><Relationship Type="http://schemas.openxmlformats.org/officeDocument/2006/relationships/notesMaster" Target="/ppt/notesMasters/notesMaster1.xml" Id="Rafa6e33c81c04048" /><Relationship Type="http://schemas.openxmlformats.org/officeDocument/2006/relationships/presProps" Target="/ppt/presProps.xml" Id="R8e0e15eca47b4ad0" /><Relationship Type="http://schemas.openxmlformats.org/officeDocument/2006/relationships/tableStyles" Target="/ppt/tableStyles.xml" Id="R2e7586401b59480c" /><Relationship Type="http://schemas.openxmlformats.org/officeDocument/2006/relationships/slide" Target="/ppt/slides/slide1.xml" Id="R0b09b03f6ea54873" /><Relationship Type="http://schemas.openxmlformats.org/officeDocument/2006/relationships/slide" Target="/ppt/slides/slide2.xml" Id="Re6fb0dad88ed4b5e" /><Relationship Type="http://schemas.openxmlformats.org/officeDocument/2006/relationships/slide" Target="/ppt/slides/slide3.xml" Id="Rece8dc254bff4190" /><Relationship Type="http://schemas.openxmlformats.org/officeDocument/2006/relationships/slide" Target="/ppt/slides/slide4.xml" Id="Rcab3dd3853f348f7" /><Relationship Type="http://schemas.openxmlformats.org/officeDocument/2006/relationships/slide" Target="/ppt/slides/slide5.xml" Id="Rf506332753804be8" /><Relationship Type="http://schemas.openxmlformats.org/officeDocument/2006/relationships/slide" Target="/ppt/slides/slide6.xml" Id="Rd75a1f7ac2e74395" /><Relationship Type="http://schemas.openxmlformats.org/officeDocument/2006/relationships/slide" Target="/ppt/slides/slide7.xml" Id="Rbbedb68319474a38" /><Relationship Type="http://schemas.openxmlformats.org/officeDocument/2006/relationships/slide" Target="/ppt/slides/slide8.xml" Id="R0acce58d0016489e" /><Relationship Type="http://schemas.openxmlformats.org/officeDocument/2006/relationships/slide" Target="/ppt/slides/slide9.xml" Id="Rd098da118f4745ca" /><Relationship Type="http://schemas.openxmlformats.org/officeDocument/2006/relationships/slide" Target="/ppt/slides/slide10.xml" Id="Rec82be76fde34593" /><Relationship Type="http://schemas.openxmlformats.org/officeDocument/2006/relationships/slide" Target="/ppt/slides/slide11.xml" Id="Rc1446d3f2db641ee" /><Relationship Type="http://schemas.openxmlformats.org/officeDocument/2006/relationships/slide" Target="/ppt/slides/slide12.xml" Id="Rc2e45c543e4d4dab" /><Relationship Type="http://schemas.openxmlformats.org/officeDocument/2006/relationships/slide" Target="/ppt/slides/slide13.xml" Id="R89bcaaff5ea74371" /><Relationship Type="http://schemas.openxmlformats.org/officeDocument/2006/relationships/slide" Target="/ppt/slides/slide14.xml" Id="R5c6b135cdffc4c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bd6d2ae82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feee2d3fbc4bb5" /><Relationship Type="http://schemas.openxmlformats.org/officeDocument/2006/relationships/notesMaster" Target="/ppt/notesMasters/notesMaster1.xml" Id="R6992759ab92b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46ed21e1149c5" /><Relationship Type="http://schemas.openxmlformats.org/officeDocument/2006/relationships/notesMaster" Target="/ppt/notesMasters/notesMaster1.xml" Id="Rcf83e495aee5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8d1064fb24fa2" /><Relationship Type="http://schemas.openxmlformats.org/officeDocument/2006/relationships/notesMaster" Target="/ppt/notesMasters/notesMaster1.xml" Id="R565968fc3497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a668def3847c3" /><Relationship Type="http://schemas.openxmlformats.org/officeDocument/2006/relationships/notesMaster" Target="/ppt/notesMasters/notesMaster1.xml" Id="Rb5319dc72d554b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438a0fd2ce4eb4" /><Relationship Type="http://schemas.openxmlformats.org/officeDocument/2006/relationships/notesMaster" Target="/ppt/notesMasters/notesMaster1.xml" Id="Rf18a15b520a8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c9692e59714fba" /><Relationship Type="http://schemas.openxmlformats.org/officeDocument/2006/relationships/notesMaster" Target="/ppt/notesMasters/notesMaster1.xml" Id="R31bace2fa2bc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1642bd98cf4d63" /><Relationship Type="http://schemas.openxmlformats.org/officeDocument/2006/relationships/notesMaster" Target="/ppt/notesMasters/notesMaster1.xml" Id="Rae206e3518ba46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ac73dcff54194" /><Relationship Type="http://schemas.openxmlformats.org/officeDocument/2006/relationships/notesMaster" Target="/ppt/notesMasters/notesMaster1.xml" Id="Rc3b39944299746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9b3b8eefab430d" /><Relationship Type="http://schemas.openxmlformats.org/officeDocument/2006/relationships/notesMaster" Target="/ppt/notesMasters/notesMaster1.xml" Id="R7cad77b4094b4b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396316353243d3" /><Relationship Type="http://schemas.openxmlformats.org/officeDocument/2006/relationships/notesMaster" Target="/ppt/notesMasters/notesMaster1.xml" Id="R71c65eee3ff846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67ee695e464254" /><Relationship Type="http://schemas.openxmlformats.org/officeDocument/2006/relationships/notesMaster" Target="/ppt/notesMasters/notesMaster1.xml" Id="R5584cd9099634c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da3f879088431d" /><Relationship Type="http://schemas.openxmlformats.org/officeDocument/2006/relationships/notesMaster" Target="/ppt/notesMasters/notesMaster1.xml" Id="Rd7fde21daf0c47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850ca55ca04c4d" /><Relationship Type="http://schemas.openxmlformats.org/officeDocument/2006/relationships/notesMaster" Target="/ppt/notesMasters/notesMaster1.xml" Id="R587702a8f68946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3f4d531bbc4cf2" /><Relationship Type="http://schemas.openxmlformats.org/officeDocument/2006/relationships/notesMaster" Target="/ppt/notesMasters/notesMaster1.xml" Id="R76548b7a1c454e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 supplied by the author.</a:t>
            </a:r>
          </a:p>
          <a:p xmlns:a="http://schemas.openxmlformats.org/drawingml/2006/main">
            <a:r>
              <a:t>Repository: https://github.com/dicethedev/MerkleForge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1, Statement of the Problem.</a:t>
            </a:r>
          </a:p>
          <a:p xmlns:a="http://schemas.openxmlformats.org/drawingml/2006/main">
            <a:r>
              <a:t>Research background referenced in the project: Nakamoto, Merkle, Ma et al., Kuznetsov et 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1, Aim and Objectives of the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2, Literature Review and research gap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4, System Implementation.</a:t>
            </a:r>
          </a:p>
          <a:p xmlns:a="http://schemas.openxmlformats.org/drawingml/2006/main">
            <a:r>
              <a:t>Repository workspace layout.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4, implemented modules and tree 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Trait signatures summarized from merkle-core/src/traits/merkle_tree.rs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4, System Development and Testing Strategies.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4.3 Testing Strategies and Chapter 4.4 Test Cases and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4.3 and Chapter 4.4 local testing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4.5 Performance Evaluation and benchmark 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Screenshots generated from the local MerkleForge website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Chapter 4.6 Application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documentation PDF: conclusion synthesized from the completed implementation, testing evidence, and application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d500083dd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2403db61554abb" /><Relationship Type="http://schemas.openxmlformats.org/officeDocument/2006/relationships/slideLayout" Target="/ppt/slideLayouts/slideLayout1.xml" Id="R957c3880f3ef47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c3880f3ef47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e654d614462d" /><Relationship Type="http://schemas.openxmlformats.org/officeDocument/2006/relationships/notesSlide" Target="/ppt/notesSlides/notesSlide1.xml" Id="R087f3a1ec4a943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102f5d1a04e4c" /><Relationship Type="http://schemas.openxmlformats.org/officeDocument/2006/relationships/notesSlide" Target="/ppt/notesSlides/notesSlide2.xml" Id="R0d1dbcb16bf043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edb778cc741c2" /><Relationship Type="http://schemas.openxmlformats.org/officeDocument/2006/relationships/notesSlide" Target="/ppt/notesSlides/notesSlide3.xml" Id="R8557c942a71e42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62a77574a4d5e" /><Relationship Type="http://schemas.openxmlformats.org/officeDocument/2006/relationships/notesSlide" Target="/ppt/notesSlides/notesSlide4.xml" Id="R153c409077774c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0ce5b01e4881" /><Relationship Type="http://schemas.openxmlformats.org/officeDocument/2006/relationships/notesSlide" Target="/ppt/notesSlides/notesSlide5.xml" Id="R268ce91e1b674d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032dd37d14875" /><Relationship Type="http://schemas.openxmlformats.org/officeDocument/2006/relationships/notesSlide" Target="/ppt/notesSlides/notesSlide6.xml" Id="R562ea12acb25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900969a0c49d5" /><Relationship Type="http://schemas.openxmlformats.org/officeDocument/2006/relationships/notesSlide" Target="/ppt/notesSlides/notesSlide7.xml" Id="R845d766c2660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22fc0e93242d7" /><Relationship Type="http://schemas.openxmlformats.org/officeDocument/2006/relationships/notesSlide" Target="/ppt/notesSlides/notesSlide8.xml" Id="R1dc52baa5ca54f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3cf7597a6422f" /><Relationship Type="http://schemas.openxmlformats.org/officeDocument/2006/relationships/notesSlide" Target="/ppt/notesSlides/notesSlide9.xml" Id="Rf8972cdc780049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64f863752440e" /><Relationship Type="http://schemas.openxmlformats.org/officeDocument/2006/relationships/notesSlide" Target="/ppt/notesSlides/notesSlide10.xml" Id="R9d8387c2d5b44d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321da052423f" /><Relationship Type="http://schemas.openxmlformats.org/officeDocument/2006/relationships/notesSlide" Target="/ppt/notesSlides/notesSlide11.xml" Id="R167275c6893b42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d06feffe54320" /><Relationship Type="http://schemas.openxmlformats.org/officeDocument/2006/relationships/image" Target="/ppt/media/image.png" Id="R6aee09f416ee463c" /><Relationship Type="http://schemas.openxmlformats.org/officeDocument/2006/relationships/image" Target="/ppt/media/image2.png" Id="R31147008fba04ed0" /><Relationship Type="http://schemas.openxmlformats.org/officeDocument/2006/relationships/image" Target="/ppt/media/image3.png" Id="Re769ac4609f74d9d" /><Relationship Type="http://schemas.openxmlformats.org/officeDocument/2006/relationships/notesSlide" Target="/ppt/notesSlides/notesSlide12.xml" Id="R792579a3979d47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3006df3e2402d" /><Relationship Type="http://schemas.openxmlformats.org/officeDocument/2006/relationships/notesSlide" Target="/ppt/notesSlides/notesSlide13.xml" Id="R423ad56e4de54f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5019cd074c59" /><Relationship Type="http://schemas.openxmlformats.org/officeDocument/2006/relationships/notesSlide" Target="/ppt/notesSlides/notesSlide14.xml" Id="R8cb8129e7b254c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8B3F2-94BD-4CC6-A51A-3FC11F4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5F8FF"/>
                </a:solidFill>
              </a:defRPr>
            </a:pPr>
            <a:r>
              <a:rPr sz="4650" b="1">
                <a:solidFill>
                  <a:srgbClr val="F5F8FF"/>
                </a:solidFill>
              </a:rPr>
              <a:t>MerkleForge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A0518-A6C6-424E-8225-D3D92F82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4A3B8"/>
                </a:solidFill>
              </a:defRPr>
            </a:pPr>
            <a:r>
              <a:rPr sz="1800" b="0">
                <a:solidFill>
                  <a:srgbClr val="94A3B8"/>
                </a:solidFill>
              </a:rPr>
              <a:t>Building a faster, unified data verification toolkit for modern blockchains.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37BB9-682C-44A0-8A30-2B541093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F"/>
                </a:solidFill>
              </a:defRPr>
            </a:pPr>
            <a:r>
              <a:rPr sz="1800" b="1">
                <a:solidFill>
                  <a:srgbClr val="F5F8FF"/>
                </a:solidFill>
              </a:rPr>
              <a:t>Blessing Omosehin Samuel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6618F-7784-477D-B425-588D33B5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Software Engineering - Miva Open University - August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D4474-DBD3-4EBF-A8DA-4B3F71DC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14400"/>
            <a:ext cx="342900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7111A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81B11-4906-4E28-99CB-9E7EE7F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66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Binary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484F6-EE75-4570-9CF1-CAD35A8E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FF3D"/>
                </a:solidFill>
              </a:defRPr>
            </a:pPr>
            <a:r>
              <a:rPr sz="2100" b="1">
                <a:solidFill>
                  <a:srgbClr val="A3FF3D"/>
                </a:solidFill>
              </a:rPr>
              <a:t>Sparse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F3F63-8BD9-4699-9A6D-28F7CC26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5CF6"/>
                </a:solidFill>
              </a:defRPr>
            </a:pPr>
            <a:r>
              <a:rPr sz="2100" b="1">
                <a:solidFill>
                  <a:srgbClr val="8B5CF6"/>
                </a:solidFill>
              </a:rPr>
              <a:t>Patricia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2470-0603-4EA7-8D05-2357D529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71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4917E-7836-4C81-80A0-4F48E31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0D950-9E77-4A4B-9564-DC8B6161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05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0BD12-E54F-4318-9C06-8A089DC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38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3C16E-2555-4F2F-80E7-E047A9C4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A081A-969D-4533-B5E8-96E0AD3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3EF3B-2951-45AF-B43E-EF1C0A13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5280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2FDD7-5407-4205-BD28-686A5C0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39362-64C3-4BE5-81B4-2034A4C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problem is fragmented Merkle tooling.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1B12F-63F9-4B10-A76C-3852456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Blockchain systems need fast proofs, but Rust developers often combine separate libraries for binary, sparse, and Patricia trees.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398B9-FC39-4AB4-AE53-F3DE04A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A26A9-4FDF-42B3-8A0F-DEB0E99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927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Different tree types, different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BBF61-C840-4B71-9777-C06ADFC4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927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Developers must switch mental models and dependencies when moving between transaction batches, sparse state maps, and Ethereum-style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803D-7DF2-492C-960B-8C44CB4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5A0D2-3858-4F63-8AE0-2B97C53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27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Research rarely reaches usable crates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64DFD-5CA3-4D9D-80EB-5D06F992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27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Optimizations such as empty-hash caches, shortcut nodes, and batch updates are discussed in papers but are not always available in developer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4B66D-9947-4071-BE1B-7A334CB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464D0-BC47-4CB4-AA69-646F396C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27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Benchmarks are hard to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FFBFA-4090-4D18-B8B5-747C57A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27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Without one repeatable benchmark suite, choosing a hash function or tree variant becomes guesswork.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0AF2B-6F17-4B87-AE26-79584362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3B529-B7DE-4979-BCB6-01B9B311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EE8F-3210-4F89-A046-78F47B0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5846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B36AC-BB2B-4553-9F1D-3F4D382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AIM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64134-CEBF-459B-8609-B16DF277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MerkleForge unifies proofs under one Rust API.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44CBE-7710-4459-AC86-C61A913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project delivers a typed, modular toolkit for building, proving, verifying, and measuring Merkle data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42DAD-844F-4FDF-8855-D14E2FC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295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E80D0-75B4-456E-8E78-98754CA6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CC2B-496A-4E35-B937-30FF1AB4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Design one trait-driven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73B3-8AD9-4D3B-9BEC-BBB6CF57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95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686DD-B750-4E67-A428-BBBE1B1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648AE-55C7-42B6-BCF5-0E68964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Implement binary, sparse, and Patricia variants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E4A3E-1110-4249-8E27-E5868EB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95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C9164-D629-45D2-A1DC-6620120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C0906-5700-488D-B298-9593522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Support SHA-256, Keccak-256, and BLAKE3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0CE20-7263-47D5-8E3F-80C62A6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95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3C49E-5529-478B-A3F9-8734E3F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107B9-98B2-469F-A8CE-DCEFC70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Benchmark against existing solutions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EB6BE-AE94-4419-BDAD-3CBDCCEC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2952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B72A8-08C5-4DA8-969F-33A6E785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57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D3EE"/>
                </a:solidFill>
              </a:defRPr>
            </a:pPr>
            <a:r>
              <a:rPr sz="2400" b="1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E8848-9CEE-4EA7-821C-AF43CE70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86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Publish documentation, examples, and crates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E0436-0931-4A1A-B692-C33F168E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4FC24-ED94-4B85-8416-A7B7BFA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A326D-C581-4D78-819D-A03BDF4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3914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1B533-AA1C-49C3-B47D-C0196860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LITERATURE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3D7F9-FA75-4534-BF8B-D1359CB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gap is between theory and practical tooling.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CDB28-B96C-43B9-8965-8D88610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Merkle tree research improves proof size, update cost, and hashing speed, but implementation support remains scattered.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78665-5A72-4A72-A2E7-CFF4085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0289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E1623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FE5D-84C3-4FC3-8961-71BFA99E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289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E1623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F483A-1F43-4BB7-AC22-925FB9F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0289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E1623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63564-0FB1-4860-9A9A-5CDB6530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FF3D"/>
                </a:solidFill>
              </a:defRPr>
            </a:pPr>
            <a:r>
              <a:rPr sz="1800" b="1">
                <a:solidFill>
                  <a:srgbClr val="A3FF3D"/>
                </a:solidFill>
              </a:rPr>
              <a:t>Academic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6E79B-291A-4421-AF78-D5074378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Batch updates, shortcut nodes, sparse proofs, and faster hashing reduce verification overhead.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76FF9-A15F-4806-99B3-1D04D4D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923C"/>
                </a:solidFill>
              </a:defRPr>
            </a:pPr>
            <a:r>
              <a:rPr sz="1800" b="1">
                <a:solidFill>
                  <a:srgbClr val="FB923C"/>
                </a:solidFill>
              </a:rPr>
              <a:t>Developer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15200-C5D4-49D8-A5B4-4B8FBF54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Existing Rust tools often focus on one variant or expose incompatible APIs.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0CA37-5DC1-4861-9BB1-8F6F44C6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MerkleForge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EB19E-36C4-4082-A574-4E2E03F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One workspace combines variants, hash adapters, proofs, docs, and benchmarks.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73451-F05B-44E7-B36A-E481877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9FE30-A0EF-4F35-8938-07001D94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65512-7429-472D-AF3C-4EE4A9A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5027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B4988-3BA9-4CC5-B5C5-3F62FC8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A714-5E75-4763-87CC-9E0B0F6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implementation is split into small crates.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C9CD-2864-4D2E-91E2-99DE4780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Each crate has one responsibility, which keeps the system easier to test, document, and extend.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ABA7A-F2AD-4DFC-9D6A-0306982A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2857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1D4EF-3FEE-4EE6-9D2B-45D55942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merkle-core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C41BB-1516-4A41-97BA-2306EF9F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00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Traits, proof types, metadata,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67F52-05EB-48F1-A247-9D40EF8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857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4087C-C56B-4FB5-BDBD-65E2A2E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FF3D"/>
                </a:solidFill>
              </a:defRPr>
            </a:pPr>
            <a:r>
              <a:rPr sz="1725" b="1">
                <a:solidFill>
                  <a:srgbClr val="A3FF3D"/>
                </a:solidFill>
              </a:rPr>
              <a:t>merkleforge-hash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F2E6E-59A6-4DFD-B51B-50C1EA5B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SHA-256, Keccak-256, BLAKE3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5CA08-4A22-40C8-9CC7-50D249E3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857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C4941-1EBC-49EA-A8D0-E0012CF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5CF6"/>
                </a:solidFill>
              </a:defRPr>
            </a:pPr>
            <a:r>
              <a:rPr sz="1725" b="1">
                <a:solidFill>
                  <a:srgbClr val="8B5CF6"/>
                </a:solidFill>
              </a:rPr>
              <a:t>merkle-variants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0403A-00F9-433E-B113-DC64355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Binary, sparse, and Patricia implementations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0B17B-0BBD-4DC4-AC33-D37A015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91000"/>
            <a:ext cx="2857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53AF6-984C-448B-AAF3-7B5D26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923C"/>
                </a:solidFill>
              </a:defRPr>
            </a:pPr>
            <a:r>
              <a:rPr sz="1725" b="1">
                <a:solidFill>
                  <a:srgbClr val="FB923C"/>
                </a:solidFill>
              </a:rPr>
              <a:t>merkle-bench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1F25B-3352-4D1E-9940-5904C312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Criterion benchmarks and comparisons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EFFD5-444B-45EF-9BF2-205503F2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91000"/>
            <a:ext cx="2857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865A2-91A2-4D9B-8561-ED0A6F5D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website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F0885-9F43-4F98-A8E5-8837846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Docs, examples, benchmarks, live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F56EA-2737-4F0F-B924-99A1C57B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70F01-EF01-4489-ACB3-DFABD71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189B1-3824-4916-AA8F-AB485CEB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0158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7AE2E-D487-47D5-B420-2C654DBB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A5A09-9506-4118-9475-18A149D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Three tree variants cover three real use cases.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E9E73-7DEF-4EDB-AC83-D513F32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library exposes familiar operations while allowing each structure to use the storage model that fits its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FE185-351D-4D20-BE64-3920EA5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C3859-A445-43A4-9DE5-17D7C3C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Binary Merkle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BE551-1A8D-4ACA-9990-C52FB122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Best for ordered lists such as transactions, files, logs, and block batches.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2EAA5-B806-471C-AFF6-B81FC285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14F84-5BBE-4D5E-B7F0-CD51CF8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Sparse Merkle Tree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90399-74FF-42B8-B6BF-62086A02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Best for huge key spaces where most entries are empty and absence proofs matter.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EA8F0-4F97-4901-9DA3-CD81002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8175F-EFF8-4D92-A757-BB322EFB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Merkle Patricia Trie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8819C-7513-4D50-8D70-AB4C6C0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556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Best for Ethereum-compatible account, storage, receipt, and state-root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5AE46-239A-4FA9-8B0E-D572C207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7111A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4B3E4-F6C8-4BD1-9426-CC04CD67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F"/>
                </a:solidFill>
              </a:defRPr>
            </a:pPr>
            <a:r>
              <a:rPr sz="1875" b="1">
                <a:solidFill>
                  <a:srgbClr val="F5F8FF"/>
                </a:solidFill>
              </a:rPr>
              <a:t>Common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BD5B2-49A4-462E-A40E-073AC3A1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insert data</a:t>
            </a:r>
          </a:p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compute root</a:t>
            </a:r>
          </a:p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generate proof</a:t>
            </a:r>
          </a:p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verify statelessly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AA20D-F2CB-4FB8-861D-0DE9C210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5D31A-4EED-4F65-9A21-ED63610F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6CEA9-43ED-464C-8A7A-8B9CFF0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356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FD482-BB91-4C50-8942-3857132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CODE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F5AD1-459A-4E46-9FCD-E002455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trait contract is the center of the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88901-65A0-40CD-942D-9B88C952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All tree variants are built around a shared interface for mutation, queries, proof generation, metadata, and stateless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5EFAA-2788-4C78-82DD-AC22BFA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2387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50A12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A91D-913E-4D4A-9076-EF90C0F3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MerkleTree&lt;H&gt;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C4BB0-B3F8-41D5-BC06-BD47617B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95650"/>
            <a:ext cx="44005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insert(data)</a:t>
            </a:r>
          </a:p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remove(index)</a:t>
            </a:r>
          </a:p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root()</a:t>
            </a:r>
          </a:p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leaf_count()</a:t>
            </a:r>
          </a:p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generate_proof(index)</a:t>
            </a:r>
          </a:p>
          <a:p xmlns:a="http://schemas.openxmlformats.org/drawingml/2006/main">
            <a:pPr algn="l">
              <a:defRPr sz="1800" b="0">
                <a:solidFill>
                  <a:srgbClr val="F5F8FF"/>
                </a:solidFill>
              </a:defRPr>
            </a:pPr>
            <a:r>
              <a:rPr sz="1800" b="0">
                <a:solidFill>
                  <a:srgbClr val="F5F8FF"/>
                </a:solidFill>
              </a:rPr>
              <a:t>metadata()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FFCAE-7F50-44D2-8F0A-742FE0D2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625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50A12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0D7A5-35F3-4EC6-B3FB-F029053A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3FF3D"/>
                </a:solidFill>
              </a:defRPr>
            </a:pPr>
            <a:r>
              <a:rPr sz="1950" b="1">
                <a:solidFill>
                  <a:srgbClr val="A3FF3D"/>
                </a:solidFill>
              </a:rPr>
              <a:t>ProofVerifier&lt;H&gt;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683E3-5B27-45A9-BBCE-3DFBD04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3714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8FF"/>
                </a:solidFill>
              </a:defRPr>
            </a:pPr>
            <a:r>
              <a:rPr sz="1425" b="0">
                <a:solidFill>
                  <a:srgbClr val="F5F8FF"/>
                </a:solidFill>
              </a:rPr>
              <a:t>fn verify(</a:t>
            </a:r>
          </a:p>
          <a:p xmlns:a="http://schemas.openxmlformats.org/drawingml/2006/main">
            <a:pPr algn="l">
              <a:defRPr sz="1425" b="0">
                <a:solidFill>
                  <a:srgbClr val="F5F8FF"/>
                </a:solidFill>
              </a:defRPr>
            </a:pPr>
            <a:r>
              <a:rPr sz="1425" b="0">
                <a:solidFill>
                  <a:srgbClr val="F5F8FF"/>
                </a:solidFill>
              </a:rPr>
              <a:t>    expected_root: &amp;H::Digest,</a:t>
            </a:r>
          </a:p>
          <a:p xmlns:a="http://schemas.openxmlformats.org/drawingml/2006/main">
            <a:pPr algn="l">
              <a:defRPr sz="1425" b="0">
                <a:solidFill>
                  <a:srgbClr val="F5F8FF"/>
                </a:solidFill>
              </a:defRPr>
            </a:pPr>
            <a:r>
              <a:rPr sz="1425" b="0">
                <a:solidFill>
                  <a:srgbClr val="F5F8FF"/>
                </a:solidFill>
              </a:rPr>
              <a:t>    leaf_data: &amp;[u8],</a:t>
            </a:r>
          </a:p>
          <a:p xmlns:a="http://schemas.openxmlformats.org/drawingml/2006/main">
            <a:pPr algn="l">
              <a:defRPr sz="1425" b="0">
                <a:solidFill>
                  <a:srgbClr val="F5F8FF"/>
                </a:solidFill>
              </a:defRPr>
            </a:pPr>
            <a:r>
              <a:rPr sz="1425" b="0">
                <a:solidFill>
                  <a:srgbClr val="F5F8FF"/>
                </a:solidFill>
              </a:rPr>
              <a:t>    proof: &amp;MerkleProof&lt;H::Digest&gt;,</a:t>
            </a:r>
          </a:p>
          <a:p xmlns:a="http://schemas.openxmlformats.org/drawingml/2006/main">
            <a:pPr algn="l">
              <a:defRPr sz="1425" b="0">
                <a:solidFill>
                  <a:srgbClr val="F5F8FF"/>
                </a:solidFill>
              </a:defRPr>
            </a:pPr>
            <a:r>
              <a:rPr sz="1425" b="0">
                <a:solidFill>
                  <a:srgbClr val="F5F8FF"/>
                </a:solidFill>
              </a:rPr>
              <a:t>) -&gt; bool;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36270-FC64-4589-A96A-29EAD192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0060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This enables light-client verification: the verifier only needs the trusted root, the target data, and the proof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7BBEC-C058-4154-9A9B-A650A38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Source: merkle-core/src/traits/merkle_tree.rs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A55E1-7213-4534-867E-20488FD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656AD-CE05-4AAA-9904-F6F409B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814FB-4443-411C-A1D0-E3ADC711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3569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A25D7-B3E4-450A-B8D5-85CDE735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26742-64E3-4367-B212-0143FA55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project used iterative, evidence-driven development.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47708-95DC-41B7-A7F0-897D2F88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Each phase added a working feature, then backed it with tests, docs, and benchmarks before moving forward.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D5A4B-3ED3-47F6-BEE2-254C3954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FBA74-92EF-4570-B230-8CBFD676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E086A-F408-4663-AA45-62460B1E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861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Implement the core crate, hash adapters, tree variant, and public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844B9-6799-4B92-82F3-3AE081B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26B5B-74EE-4031-B02A-07C21988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CA5CD-5E81-4CD6-8EC7-9E043775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861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Run unit, integration, property-based, and Ethereum vector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C13C4-5724-4017-8E7D-4BA2EE1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424E6-4152-4E8A-BB06-2556A53F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2278C-3878-4A03-AAC1-6C9EE741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861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Use Criterion benchmarks, comparison suites, and energy-aware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9A658-056B-4981-B9E6-F3FC6FC2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B48F5-A693-4A94-8C4B-AFFEFCF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Publish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60B6D-CD58-46A4-9483-99C3B9F1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861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Expose docs, examples, release automation, website pages, and live demo.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0EFAC-00C8-4550-8C05-F6F0ECBB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D2A39-0B32-4D4B-B7FD-F7985C65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7E4AF-F7ED-42FC-8934-9F38491B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7076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2210A-33DD-4F5C-ADA0-5573D27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TESTING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C082-6FE5-46F7-9D35-45294133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Correctness was tested at multiple levels.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FED4F-D31E-47A3-B169-8AA1C33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test suite checks single components, combined workflows, generated random cases, and Ethereum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AEE91-D144-4C16-8246-D595974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857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B500A-45CA-435D-9366-CE42732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Unit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DFA83-62B1-48A5-B74A-4060071D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Core functions, errors, hashing, RLP, and tree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79266-9F7F-48B1-AED2-690B2DF3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857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E60F9-7BDA-4649-B319-01DA45A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FF3D"/>
                </a:solidFill>
              </a:defRPr>
            </a:pPr>
            <a:r>
              <a:rPr sz="1800" b="1">
                <a:solidFill>
                  <a:srgbClr val="A3FF3D"/>
                </a:solidFill>
              </a:rPr>
              <a:t>Integration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4DB73-084C-4D12-8E6B-147F8EB8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Combined modules across binary, sparse, and Patricia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8726F-6C55-4F53-B4AE-F606F864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857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FA644-2367-4D4C-A602-28BB846F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Property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F2B8-4E4D-4826-8392-8104A46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Randomized invariants using Proptest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A39D8-C579-468C-983F-5274C43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857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062C3-82F9-4224-9850-C9B275C2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FF3D"/>
                </a:solidFill>
              </a:defRPr>
            </a:pPr>
            <a:r>
              <a:rPr sz="1800" b="1">
                <a:solidFill>
                  <a:srgbClr val="A3FF3D"/>
                </a:solidFill>
              </a:rPr>
              <a:t>Ethereum vectors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D4463-9054-4F69-B853-23D03BE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Patricia trie roots checked against official test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0DBCB-C707-40C6-86BE-F3D27C2A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CE95A-421C-42CD-BDEF-355A141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12269-461D-4370-AC15-96A71E4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0621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D5CCA-F6D4-4274-A219-A592D81C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0BF1A-8C71-49DA-9324-27E5270E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implementation passed the recorded verification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1F175-276B-49F7-A0B2-FD408B6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report records successful workspace, property, vector, documentation, and website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26C29-593B-4544-AA7E-6E8DB25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191B7-ED4D-4AE8-A8BD-974DB5DE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15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C83B7-2BC1-437F-80FC-68195BE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merkle-core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6FF8-A45B-4EEF-8399-5552AAB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9A836-4815-4D38-8835-1A348546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21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108CD-5EB0-432D-8236-1C6C0F45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merkleforge-hash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FD52F-CCE9-4600-B1C3-F7A10D6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56B5B-B857-49C7-9009-71E440C8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105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0B0BA-9E21-4371-901A-88895E6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merkle-variants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F30F9-A702-43B8-8476-1A41506B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11C80-61DA-43C0-BAD5-4A00E58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6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9850F0-833B-4678-A92B-802BE006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binary properties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E59EB-C58B-44C8-B558-A304651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12A8E-B46A-46E8-B530-CAA0D93B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3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94213-1BD7-442E-B18C-2F17786B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Patricia vectors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E075C-A025-4DE7-AB6A-3AAD4CB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05250"/>
            <a:ext cx="2857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F28F7-F576-41DB-9377-B787978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FF3D"/>
                </a:solidFill>
              </a:defRPr>
            </a:pPr>
            <a:r>
              <a:rPr sz="1875" b="1">
                <a:solidFill>
                  <a:srgbClr val="A3FF3D"/>
                </a:solidFill>
              </a:rPr>
              <a:t>passed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9E30B-F82D-4CD9-974B-CEB6AF6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website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36539E-1223-4347-9EC5-77C883B9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5F7EA-0EBB-4CD9-8029-5A80E27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C72EE-1DBC-4972-A58D-9832156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8329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F2BDD-BAE8-47D4-B101-EF8265DA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PERFORMANCE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908E-4A43-428D-8AF6-97F3E5C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Benchmarks show where each design is strongest.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1C339-DB65-4702-98F7-31331B4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Criterion measurements were used to compare hashing throughput, tree construction, proof generation, and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53381-2215-49C7-ABAC-EDF3FC2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F98F-9044-4AEA-9E4A-E3428D0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Hashing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41B60-17E6-46CE-AD07-933BD12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BLAKE3 reached the strongest large-input throughput in the recorded benchmark: 5.99 GiB/s.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184D6-4155-46D2-A503-9DE373F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443AF-C8DA-4EC9-82D8-ADC45662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95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FF3D"/>
                </a:solidFill>
              </a:defRPr>
            </a:pPr>
            <a:r>
              <a:rPr sz="1800" b="1">
                <a:solidFill>
                  <a:srgbClr val="A3FF3D"/>
                </a:solidFill>
              </a:rPr>
              <a:t>Binary tree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33A59-DC0E-405F-9254-D5DC66E3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100K-leaf construction completed in about 268 ms with SHA-256 in the recorded run.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CE283-CC94-4E30-BAF5-EEE3B22D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0B141F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7DDD3-A318-49D2-B888-F733EBB5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923C"/>
                </a:solidFill>
              </a:defRPr>
            </a:pPr>
            <a:r>
              <a:rPr sz="1800" b="1">
                <a:solidFill>
                  <a:srgbClr val="FB923C"/>
                </a:solidFill>
              </a:rPr>
              <a:t>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66AD-3907-48C4-B7B4-8FC04F2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MerkleForge remained competitive on proof size and proof verification while offering more variants.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0A48C-EC5F-4D8A-A3E7-085DEC5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FE68C-D7D2-4882-8982-165734A8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49928-C967-486A-8D44-25D739D7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3835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8FC0C-5995-4641-B36C-8A6EAE9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USER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92921-1448-4F98-8821-B0BCE0F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website makes the artifact easier to evaluate.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F6813-8A33-48A2-BC52-A677CBC8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 React and Vite website turns the library into something reviewers can inspect without reading every source file first.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e09f416ee463c"/>
          <a:srcRect xmlns:a="http://schemas.openxmlformats.org/drawingml/2006/main" l="0" t="3247" r="0" b="3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76500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47008fba04ed0"/>
          <a:srcRect xmlns:a="http://schemas.openxmlformats.org/drawingml/2006/main" l="0" t="3247" r="0" b="3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2476500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9ac4609f74d9d"/>
          <a:srcRect xmlns:a="http://schemas.openxmlformats.org/drawingml/2006/main" l="0" t="3247" r="0" b="32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2476500"/>
            <a:ext cx="33337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107F-5F04-4578-A023-38C0DCD8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F"/>
                </a:solidFill>
              </a:defRPr>
            </a:pPr>
            <a:r>
              <a:rPr sz="1275" b="1">
                <a:solidFill>
                  <a:srgbClr val="F5F8FF"/>
                </a:solidFill>
              </a:rPr>
              <a:t>Landing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F5AD3-7959-407C-B270-6A19EA45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F"/>
                </a:solidFill>
              </a:defRPr>
            </a:pPr>
            <a:r>
              <a:rPr sz="1275" b="1">
                <a:solidFill>
                  <a:srgbClr val="F5F8FF"/>
                </a:solidFill>
              </a:rPr>
              <a:t>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F47C6-2E8A-47F2-B896-46053450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F"/>
                </a:solidFill>
              </a:defRPr>
            </a:pPr>
            <a:r>
              <a:rPr sz="1275" b="1">
                <a:solidFill>
                  <a:srgbClr val="F5F8FF"/>
                </a:solidFill>
              </a:rPr>
              <a:t>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86EB9-A69E-4010-9B52-0BB6C264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9774E-C7E5-4C87-83C5-E41A161F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CE858-5A6F-4AC5-8F38-1A810E1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5283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75B31-E77B-4E15-8A7C-67B22D87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HOW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64F48-FD05-4EE9-A069-506EA82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The panel can verify the artefact with standard commands.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9FE3C-C3E6-4FF7-BE1F-D344AE8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These commands reproduce the main quality checks and demonstrate stateless proof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3394D-32CE-40AF-A088-4F85977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394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050A12"/>
          </a:solidFill>
          <a:ln xmlns:a="http://schemas.openxmlformats.org/drawingml/2006/main" w="9525">
            <a:solidFill>
              <a:srgbClr val="2030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F3A23-55B4-47CA-A537-630CCA4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F"/>
                </a:solidFill>
              </a:defRPr>
            </a:pPr>
            <a:r>
              <a:rPr sz="1500" b="0">
                <a:solidFill>
                  <a:srgbClr val="F5F8FF"/>
                </a:solidFill>
              </a:rPr>
              <a:t>$ git clone https://github.com/dicethedev/MerkleForge.git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03597-AE31-4C8E-B2B2-8D7FE4E9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F"/>
                </a:solidFill>
              </a:defRPr>
            </a:pPr>
            <a:r>
              <a:rPr sz="1500" b="0">
                <a:solidFill>
                  <a:srgbClr val="F5F8FF"/>
                </a:solidFill>
              </a:rPr>
              <a:t>$ cargo test --workspace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906C0-CCB2-4B45-AB3B-51AC89C9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F"/>
                </a:solidFill>
              </a:defRPr>
            </a:pPr>
            <a:r>
              <a:rPr sz="1500" b="0">
                <a:solidFill>
                  <a:srgbClr val="F5F8FF"/>
                </a:solidFill>
              </a:rPr>
              <a:t>$ cargo doc --workspace --no-deps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2F3F6-94E5-43AC-99A7-F3B7A78E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FF3D"/>
                </a:solidFill>
              </a:defRPr>
            </a:pPr>
            <a:r>
              <a:rPr sz="1500" b="0">
                <a:solidFill>
                  <a:srgbClr val="A3FF3D"/>
                </a:solidFill>
              </a:rPr>
              <a:t>$ cargo run -p merkle-variants --example light_client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2F44D-B14F-4E36-95DA-9B6C1077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F"/>
                </a:solidFill>
              </a:defRPr>
            </a:pPr>
            <a:r>
              <a:rPr sz="1500" b="0">
                <a:solidFill>
                  <a:srgbClr val="F5F8FF"/>
                </a:solidFill>
              </a:rPr>
              <a:t>$ cargo bench --bench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56A6-CE7C-4A99-9051-66E7F0E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8FF"/>
                </a:solidFill>
              </a:defRPr>
            </a:pPr>
            <a:r>
              <a:rPr sz="1500" b="0">
                <a:solidFill>
                  <a:srgbClr val="F5F8FF"/>
                </a:solidFill>
              </a:rPr>
              <a:t>$ npm --prefix website run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ED063-C623-4870-8293-F215D60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B0D5D-D45B-4A34-B62F-C42694D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B7E12-30CC-4985-804E-BF97A8E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60911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9F1FB-0AED-48D8-A1FC-C8737BB2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E250-68E9-4153-A77D-CBD1AAFA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0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F"/>
                </a:solidFill>
              </a:defRPr>
            </a:pPr>
            <a:r>
              <a:rPr sz="2850" b="1">
                <a:solidFill>
                  <a:srgbClr val="F5F8FF"/>
                </a:solidFill>
              </a:rPr>
              <a:t>MerkleForge meets the project goal.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2ECA-C5D9-46D2-ADE0-CD7B047C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</a:defRPr>
            </a:pPr>
            <a:r>
              <a:rPr sz="1500" b="0">
                <a:solidFill>
                  <a:srgbClr val="94A3B8"/>
                </a:solidFill>
              </a:rPr>
              <a:t>It provides a unified Rust toolkit for authenticated data structures, backed by tests, benchmarks, documentation, and a live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F1B78-8E24-4295-8153-FBF1ADF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78B34-F6FA-4937-825F-062A49B0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Technical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154E3-F852-4E93-BDC6-8D7FFB6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A modular Rust workspace covering binary, sparse, and Ethereum-compatible Patricia structures.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69136-70B0-46F4-B8E7-39E26EB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08834-9F8E-4D2B-B28D-04EA86C1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Evidence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B5A7B-3D05-4637-A806-A28B6BB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Tests, Ethereum vectors, Criterion benchmarks, screenshots, and report-ready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8E827-58F4-4A05-A2AC-05E18C3C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11637-A8A6-4751-8A87-DBCA2CA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F"/>
                </a:solidFill>
              </a:defRPr>
            </a:pPr>
            <a:r>
              <a:rPr sz="1575" b="1">
                <a:solidFill>
                  <a:srgbClr val="F5F8FF"/>
                </a:solidFill>
              </a:rPr>
              <a:t>Practical contribution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69F92-4A6E-4B12-8A7E-BF49A926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A public developer-facing artifact that can be installed, tested, benchmarked, and extended.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959C7-B09B-4F01-9E5A-FC136AA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3FF3D"/>
                </a:solidFill>
              </a:defRPr>
            </a:pPr>
            <a:r>
              <a:rPr sz="1950" b="1">
                <a:solidFill>
                  <a:srgbClr val="A3FF3D"/>
                </a:solidFill>
              </a:rPr>
              <a:t>Ready for defense and supervisor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C2118-7920-4941-886F-8662A95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25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AD9FA-4382-470C-A9CD-78FBEAE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MerkleForge final year project defense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F701F-7A8F-4F47-B769-F2B79FD4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9224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2026-08-18T03:42:05.3260000Z</dcterms:created>
  <dcterms:modified xsi:type="dcterms:W3CDTF">2026-08-18T03:42:05.3260000Z</dcterms:modified>
</coreProperties>
</file>